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310" r:id="rId10"/>
    <p:sldId id="311" r:id="rId11"/>
    <p:sldId id="298" r:id="rId12"/>
    <p:sldId id="299" r:id="rId13"/>
    <p:sldId id="300" r:id="rId14"/>
    <p:sldId id="301" r:id="rId15"/>
    <p:sldId id="302" r:id="rId16"/>
    <p:sldId id="312" r:id="rId17"/>
    <p:sldId id="303" r:id="rId18"/>
    <p:sldId id="304" r:id="rId19"/>
    <p:sldId id="305" r:id="rId20"/>
    <p:sldId id="306" r:id="rId21"/>
    <p:sldId id="307" r:id="rId22"/>
    <p:sldId id="308" r:id="rId23"/>
    <p:sldId id="309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-629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xmlns="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xmlns="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xmlns="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945871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057587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052078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622169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r>
              <a:rPr lang="en-US" b="1"/>
              <a:t/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 smtClean="0"/>
                        <a:t>Vishwas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Anand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vishwasanand12a@gmail.com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8957142971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828B9EF-C084-F5D4-CA27-75AF7D995640}"/>
              </a:ext>
            </a:extLst>
          </p:cNvPr>
          <p:cNvSpPr txBox="1"/>
          <p:nvPr/>
        </p:nvSpPr>
        <p:spPr>
          <a:xfrm>
            <a:off x="1206164" y="1451580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Domain of  Project </a:t>
            </a:r>
            <a:r>
              <a:rPr lang="en-US" sz="2400" b="1" dirty="0"/>
              <a:t>– </a:t>
            </a:r>
            <a:r>
              <a:rPr lang="en-US" sz="2400" b="1" dirty="0" smtClean="0">
                <a:highlight>
                  <a:srgbClr val="FFFF00"/>
                </a:highlight>
              </a:rPr>
              <a:t>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Project Tile </a:t>
            </a:r>
            <a:r>
              <a:rPr lang="en-US" sz="2400" b="1" dirty="0"/>
              <a:t>– </a:t>
            </a:r>
            <a:r>
              <a:rPr lang="en-US" sz="2400" b="1" dirty="0" smtClean="0">
                <a:highlight>
                  <a:srgbClr val="FFFF00"/>
                </a:highlight>
              </a:rPr>
              <a:t>Course Content Simplification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1026" name="Picture 2" descr="C:\Users\VISHWAS\Pictures\Saved Pictures\22133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95007" y="3547302"/>
            <a:ext cx="1498531" cy="1171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b="1" dirty="0"/>
              <a:t>Problem Statement </a:t>
            </a:r>
            <a:r>
              <a:rPr lang="en-US" b="1" dirty="0" smtClean="0"/>
              <a:t>:Course content simplifier agent</a:t>
            </a:r>
            <a:endParaRPr lang="en-US" dirty="0"/>
          </a:p>
          <a:p>
            <a:pPr fontAlgn="base">
              <a:lnSpc>
                <a:spcPct val="150000"/>
              </a:lnSpc>
            </a:pPr>
            <a:endParaRPr lang="en-US" b="1" dirty="0"/>
          </a:p>
          <a:p>
            <a:pPr fontAlgn="base">
              <a:lnSpc>
                <a:spcPct val="150000"/>
              </a:lnSpc>
            </a:pPr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Educational materials often vary in complexity and may not be accessible to learners with different levels of prior knowledge. Students can struggle to understand </a:t>
            </a:r>
            <a:r>
              <a:rPr lang="en-US" b="1" dirty="0" smtClean="0"/>
              <a:t>jargon-heavy or overly advanced explanations</a:t>
            </a:r>
            <a:r>
              <a:rPr lang="en-US" dirty="0" smtClean="0"/>
              <a:t> in faculty notes and textbooks.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 challenge is to develop an </a:t>
            </a:r>
            <a:r>
              <a:rPr lang="en-US" b="1" dirty="0" smtClean="0"/>
              <a:t>AI-powered agent</a:t>
            </a:r>
            <a:r>
              <a:rPr lang="en-US" dirty="0" smtClean="0"/>
              <a:t> that can intelligently analyze academic content and </a:t>
            </a:r>
            <a:r>
              <a:rPr lang="en-US" b="1" dirty="0" smtClean="0"/>
              <a:t>reframe explanations according to the learner’s proficiency level</a:t>
            </a:r>
            <a:r>
              <a:rPr lang="en-US" dirty="0" smtClean="0"/>
              <a:t>, ranging from </a:t>
            </a:r>
            <a:r>
              <a:rPr lang="en-US" b="1" dirty="0" smtClean="0"/>
              <a:t>beginner to expert</a:t>
            </a:r>
            <a:r>
              <a:rPr lang="en-US" dirty="0" smtClean="0"/>
              <a:t>.</a:t>
            </a:r>
          </a:p>
          <a:p>
            <a:pPr fontAlgn="base">
              <a:lnSpc>
                <a:spcPct val="150000"/>
              </a:lnSpc>
            </a:pPr>
            <a:endParaRPr lang="en-US" dirty="0"/>
          </a:p>
          <a:p>
            <a:pPr fontAlgn="base">
              <a:lnSpc>
                <a:spcPct val="150000"/>
              </a:lnSpc>
            </a:pPr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To build an AI-powered Course Content Simplification Agent that: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 smtClean="0"/>
              <a:t>Converts complex academic content into </a:t>
            </a:r>
            <a:r>
              <a:rPr lang="en-US" b="1" dirty="0" smtClean="0"/>
              <a:t>easy-to-understand explanations</a:t>
            </a:r>
            <a:r>
              <a:rPr lang="en-US" dirty="0" smtClean="0"/>
              <a:t>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 smtClean="0"/>
              <a:t>Adapts content for </a:t>
            </a:r>
            <a:r>
              <a:rPr lang="en-US" b="1" dirty="0" smtClean="0"/>
              <a:t>Beginner, Intermediate, and Advanced</a:t>
            </a:r>
            <a:r>
              <a:rPr lang="en-US" dirty="0" smtClean="0"/>
              <a:t> learners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 smtClean="0"/>
              <a:t>Highlights </a:t>
            </a:r>
            <a:r>
              <a:rPr lang="en-US" b="1" dirty="0" smtClean="0"/>
              <a:t>key concepts and important points</a:t>
            </a:r>
            <a:r>
              <a:rPr lang="en-US" dirty="0" smtClean="0"/>
              <a:t>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 smtClean="0"/>
              <a:t>Provides a </a:t>
            </a:r>
            <a:r>
              <a:rPr lang="en-US" b="1" dirty="0" smtClean="0"/>
              <a:t>short practical example</a:t>
            </a:r>
            <a:r>
              <a:rPr lang="en-US" dirty="0" smtClean="0"/>
              <a:t> to improve understanding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 smtClean="0"/>
              <a:t>Supports </a:t>
            </a:r>
            <a:r>
              <a:rPr lang="en-US" b="1" dirty="0" smtClean="0"/>
              <a:t>inclusive and personalized learning at scale</a:t>
            </a:r>
            <a:endParaRPr lang="en-US" dirty="0" smtClean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Problem Statement </a:t>
            </a:r>
            <a:r>
              <a:rPr lang="en-US" sz="2400" b="1" dirty="0"/>
              <a:t>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xmlns="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A1BF701-ABCA-4DF0-8330-B6AF71EF8E39}"/>
              </a:ext>
            </a:extLst>
          </p:cNvPr>
          <p:cNvSpPr txBox="1"/>
          <p:nvPr/>
        </p:nvSpPr>
        <p:spPr>
          <a:xfrm>
            <a:off x="585216" y="1097280"/>
            <a:ext cx="10607040" cy="623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 smtClean="0"/>
              <a:t>Proposed Solution: AI-Powered Course Content Simplification Agent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 proposed solution is an </a:t>
            </a:r>
            <a:r>
              <a:rPr lang="en-US" b="1" dirty="0" smtClean="0"/>
              <a:t>AI-powered Course Content Simplification Agent</a:t>
            </a:r>
            <a:r>
              <a:rPr lang="en-US" dirty="0" smtClean="0"/>
              <a:t> built using </a:t>
            </a:r>
            <a:r>
              <a:rPr lang="en-US" b="1" dirty="0" smtClean="0"/>
              <a:t>IBM Bob, IBM watsonx.ai, IBM Cloud, and IBM Granite</a:t>
            </a:r>
            <a:r>
              <a:rPr lang="en-US" dirty="0" smtClean="0"/>
              <a:t> to make academic content easier to understand for learners with different levels of prior knowledge.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 system accepts </a:t>
            </a:r>
            <a:r>
              <a:rPr lang="en-US" b="1" dirty="0" smtClean="0"/>
              <a:t>course or academic content</a:t>
            </a:r>
            <a:r>
              <a:rPr lang="en-US" dirty="0" smtClean="0"/>
              <a:t> from the user and uses IBM Granite to analyze and reframe the explanation according to the selected learner proficiency level.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 system supports three learning levels: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Beginner</a:t>
            </a:r>
            <a:r>
              <a:rPr lang="en-US" dirty="0" smtClean="0"/>
              <a:t> – Uses simple language, short explanations, and everyday analogies.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Intermediate</a:t>
            </a:r>
            <a:r>
              <a:rPr lang="en-US" dirty="0" smtClean="0"/>
              <a:t> – Provides clear explanations with moderate technical terminology.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Advanced</a:t>
            </a:r>
            <a:r>
              <a:rPr lang="en-US" dirty="0" smtClean="0"/>
              <a:t> – Uses precise technical language and assumes stronger prior knowledge.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 agent generates three useful outputs: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Simplified Explanation</a:t>
            </a:r>
            <a:r>
              <a:rPr lang="en-US" dirty="0" smtClean="0"/>
              <a:t> – Rewrites the original academic content according to the selected level.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Key Points</a:t>
            </a:r>
            <a:r>
              <a:rPr lang="en-US" dirty="0" smtClean="0"/>
              <a:t> – Extracts the most important concepts for quick revision.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Short Example</a:t>
            </a:r>
            <a:r>
              <a:rPr lang="en-US" dirty="0" smtClean="0"/>
              <a:t> – Provides a practical example to make the concept easier to understand.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 solution is implemented as a </a:t>
            </a:r>
            <a:r>
              <a:rPr lang="en-US" b="1" dirty="0" smtClean="0"/>
              <a:t>web </a:t>
            </a:r>
            <a:r>
              <a:rPr lang="en-US" b="1" dirty="0" smtClean="0"/>
              <a:t>application using Python and </a:t>
            </a:r>
            <a:r>
              <a:rPr lang="en-US" b="1" dirty="0" smtClean="0"/>
              <a:t>Flask</a:t>
            </a:r>
            <a:r>
              <a:rPr lang="en-US" dirty="0" smtClean="0"/>
              <a:t>, with an HTML/CSS/JavaScript interface. </a:t>
            </a:r>
            <a:r>
              <a:rPr lang="en-US" b="1" dirty="0" smtClean="0"/>
              <a:t>IBM watsonx.ai</a:t>
            </a:r>
            <a:r>
              <a:rPr lang="en-US" dirty="0" smtClean="0"/>
              <a:t> provides access to the </a:t>
            </a:r>
            <a:r>
              <a:rPr lang="en-US" b="1" dirty="0" smtClean="0"/>
              <a:t>IBM Granite model</a:t>
            </a:r>
            <a:r>
              <a:rPr lang="en-US" dirty="0" smtClean="0"/>
              <a:t>, while </a:t>
            </a:r>
            <a:r>
              <a:rPr lang="en-US" b="1" dirty="0" smtClean="0"/>
              <a:t>IBM Bob</a:t>
            </a:r>
            <a:r>
              <a:rPr lang="en-US" dirty="0" smtClean="0"/>
              <a:t> is used during development.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Overall, the solution provides </a:t>
            </a:r>
            <a:r>
              <a:rPr lang="en-US" b="1" dirty="0" smtClean="0"/>
              <a:t>personalized, accessible, and scalable academic content delivery</a:t>
            </a:r>
            <a:r>
              <a:rPr lang="en-US" dirty="0" smtClean="0"/>
              <a:t> by adapting the same learning material to different levels of learner proficiency.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Proposed Solution -</a:t>
            </a:r>
            <a:endParaRPr lang="en-IN" sz="2400" b="1" u="sng" dirty="0"/>
          </a:p>
        </p:txBody>
      </p:sp>
    </p:spTree>
    <p:extLst>
      <p:ext uri="{BB962C8B-B14F-4D97-AF65-F5344CB8AC3E}">
        <p14:creationId xmlns:p14="http://schemas.microsoft.com/office/powerpoint/2010/main" xmlns="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u="sng" dirty="0"/>
              <a:t>Technology Used</a:t>
            </a:r>
            <a:endParaRPr lang="en-IN" sz="24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smtClean="0"/>
              <a:t>IBM Bob</a:t>
            </a:r>
            <a:r>
              <a:rPr lang="en-US" sz="1800" dirty="0" smtClean="0"/>
              <a:t> – Used for AI-assisted development, code generation, debugging, and project implementation. </a:t>
            </a:r>
            <a:endParaRPr lang="en-US" sz="18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smtClean="0"/>
              <a:t>IBM </a:t>
            </a:r>
            <a:r>
              <a:rPr lang="en-US" sz="1800" b="1" dirty="0" smtClean="0"/>
              <a:t>Granite Model (</a:t>
            </a:r>
            <a:r>
              <a:rPr lang="en-US" sz="1800" b="1" dirty="0" err="1" smtClean="0"/>
              <a:t>ibm</a:t>
            </a:r>
            <a:r>
              <a:rPr lang="en-US" sz="1800" b="1" dirty="0" smtClean="0"/>
              <a:t>/granite-4-h-small)</a:t>
            </a:r>
            <a:r>
              <a:rPr lang="en-US" sz="1800" dirty="0" smtClean="0"/>
              <a:t> – Used for understanding and simplifying academic content according to learner proficiency. </a:t>
            </a:r>
            <a:endParaRPr lang="en-US" sz="18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smtClean="0"/>
              <a:t>IBM </a:t>
            </a:r>
            <a:r>
              <a:rPr lang="en-US" sz="1800" b="1" dirty="0" smtClean="0"/>
              <a:t>watsonx.ai</a:t>
            </a:r>
            <a:r>
              <a:rPr lang="en-US" sz="1800" dirty="0" smtClean="0"/>
              <a:t> – Used to access and run the IBM Granite foundation model. </a:t>
            </a:r>
            <a:endParaRPr lang="en-US" sz="18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smtClean="0"/>
              <a:t>IBM </a:t>
            </a:r>
            <a:r>
              <a:rPr lang="en-US" sz="1800" b="1" dirty="0" smtClean="0"/>
              <a:t>Cloud</a:t>
            </a:r>
            <a:r>
              <a:rPr lang="en-US" sz="1800" dirty="0" smtClean="0"/>
              <a:t> – Provides the cloud environment for IBM watsonx.ai services. </a:t>
            </a:r>
            <a:endParaRPr lang="en-US" sz="18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smtClean="0"/>
              <a:t>Python </a:t>
            </a:r>
            <a:r>
              <a:rPr lang="en-US" sz="1800" b="1" dirty="0" smtClean="0"/>
              <a:t>&amp; Flask</a:t>
            </a:r>
            <a:r>
              <a:rPr lang="en-US" sz="1800" dirty="0" smtClean="0"/>
              <a:t> – Used to build the backend and handle requests between the web interface and the Granite model. </a:t>
            </a:r>
            <a:endParaRPr lang="en-US" sz="18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smtClean="0"/>
              <a:t>HTML</a:t>
            </a:r>
            <a:r>
              <a:rPr lang="en-US" sz="1800" b="1" dirty="0" smtClean="0"/>
              <a:t>, CSS &amp; JavaScript</a:t>
            </a:r>
            <a:r>
              <a:rPr lang="en-US" sz="1800" dirty="0" smtClean="0"/>
              <a:t> – Used to create the web interface for entering content, selecting learner level, and displaying results.</a:t>
            </a:r>
            <a:endParaRPr lang="en-US" sz="1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xmlns="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xmlns="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u="sng" dirty="0">
                <a:sym typeface="Times New Roman"/>
              </a:rPr>
              <a:t>Required Files created using IBM bob -</a:t>
            </a:r>
            <a:endParaRPr sz="2400" b="1" u="sng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xmlns="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xmlns="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xmlns="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xmlns="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xmlns="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xmlns="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BB86949-7ED1-C43B-B1E3-5122BB67A596}"/>
              </a:ext>
            </a:extLst>
          </p:cNvPr>
          <p:cNvSpPr txBox="1"/>
          <p:nvPr/>
        </p:nvSpPr>
        <p:spPr>
          <a:xfrm>
            <a:off x="502254" y="689451"/>
            <a:ext cx="882396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b="1" dirty="0" smtClean="0"/>
              <a:t>app.py</a:t>
            </a:r>
            <a:r>
              <a:rPr lang="en-US" sz="1800" dirty="0" smtClean="0"/>
              <a:t> — Flask backend + IBM Granite integration </a:t>
            </a:r>
            <a:endParaRPr lang="en-US" sz="18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1800" b="1" dirty="0" smtClean="0"/>
              <a:t>templates/index.html</a:t>
            </a:r>
            <a:r>
              <a:rPr lang="en-US" sz="1800" dirty="0" smtClean="0"/>
              <a:t> </a:t>
            </a:r>
            <a:r>
              <a:rPr lang="en-US" sz="1800" dirty="0" smtClean="0"/>
              <a:t>— Web interface </a:t>
            </a:r>
            <a:endParaRPr lang="en-US" sz="18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1800" b="1" dirty="0" smtClean="0"/>
              <a:t>requirements.txt</a:t>
            </a:r>
            <a:r>
              <a:rPr lang="en-US" sz="1800" dirty="0" smtClean="0"/>
              <a:t> </a:t>
            </a:r>
            <a:r>
              <a:rPr lang="en-US" sz="1800" dirty="0" smtClean="0"/>
              <a:t>— Python dependencies </a:t>
            </a:r>
            <a:endParaRPr lang="en-US" sz="18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1800" b="1" dirty="0" smtClean="0"/>
              <a:t>README.md</a:t>
            </a:r>
            <a:r>
              <a:rPr lang="en-US" sz="1800" dirty="0" smtClean="0"/>
              <a:t> </a:t>
            </a:r>
            <a:r>
              <a:rPr lang="en-US" sz="1800" dirty="0" smtClean="0"/>
              <a:t>— Project documentation </a:t>
            </a:r>
            <a:endParaRPr lang="en-US" sz="18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1800" b="1" dirty="0" smtClean="0"/>
              <a:t>.</a:t>
            </a:r>
            <a:r>
              <a:rPr lang="en-US" sz="1800" b="1" dirty="0" err="1" smtClean="0"/>
              <a:t>env.example</a:t>
            </a:r>
            <a:r>
              <a:rPr lang="en-US" sz="1800" dirty="0" smtClean="0"/>
              <a:t> — Configuration template (without your real API key)</a:t>
            </a:r>
            <a:endParaRPr lang="en-US" sz="1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xmlns="" id="{A6C81E80-ED7B-4240-A8EE-0221D9ACD900}"/>
              </a:ext>
            </a:extLst>
          </p:cNvPr>
          <p:cNvSpPr/>
          <p:nvPr/>
        </p:nvSpPr>
        <p:spPr>
          <a:xfrm rot="8280234">
            <a:off x="8729809" y="2079959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 descr="C:\Users\VISHWAS\Desktop\vertika\prj_required_bob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7681" y="2532888"/>
            <a:ext cx="7894320" cy="4325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sng" strike="noStrike" cap="none" dirty="0">
                <a:solidFill>
                  <a:srgbClr val="051D3A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sng" strike="noStrike" cap="none" dirty="0">
                <a:solidFill>
                  <a:srgbClr val="051D3A"/>
                </a:solidFill>
                <a:latin typeface="+mj-lt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 u="sng">
              <a:latin typeface="+mj-lt"/>
              <a:sym typeface="Times New Roman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768" y="832104"/>
            <a:ext cx="11387328" cy="578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VISHWAS\Desktop\New folder\prj_bob_id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0689" y="337630"/>
            <a:ext cx="10077450" cy="58547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VISHWAS\Desktop\New folder\prj_bob_task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1792" y="484633"/>
            <a:ext cx="4900613" cy="6373368"/>
          </a:xfrm>
          <a:prstGeom prst="rect">
            <a:avLst/>
          </a:prstGeom>
          <a:noFill/>
        </p:spPr>
      </p:pic>
      <p:pic>
        <p:nvPicPr>
          <p:cNvPr id="5123" name="Picture 3" descr="C:\Users\VISHWAS\Desktop\New folder\prj_bob_task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1067" y="525463"/>
            <a:ext cx="4922837" cy="6332537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0" y="0"/>
            <a:ext cx="4892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 dirty="0" smtClean="0"/>
              <a:t>IBM BOB</a:t>
            </a:r>
            <a:endParaRPr lang="en-US" sz="1800" b="1" u="sng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096" y="278891"/>
            <a:ext cx="8449056" cy="246889"/>
          </a:xfrm>
        </p:spPr>
        <p:txBody>
          <a:bodyPr>
            <a:noAutofit/>
          </a:bodyPr>
          <a:lstStyle/>
          <a:p>
            <a:r>
              <a:rPr lang="en-US" sz="1800" b="1" dirty="0" smtClean="0">
                <a:latin typeface="+mj-lt"/>
              </a:rPr>
              <a:t>				</a:t>
            </a:r>
            <a:r>
              <a:rPr lang="en-US" sz="1800" b="1" u="sng" dirty="0" smtClean="0">
                <a:latin typeface="+mj-lt"/>
              </a:rPr>
              <a:t>Terminal</a:t>
            </a:r>
            <a:endParaRPr lang="en-US" sz="1800" b="1" u="sng" dirty="0">
              <a:latin typeface="+mj-lt"/>
            </a:endParaRPr>
          </a:p>
        </p:txBody>
      </p:sp>
      <p:pic>
        <p:nvPicPr>
          <p:cNvPr id="6146" name="Picture 2" descr="C:\Users\VISHWAS\Desktop\New folder\prj_bob_termina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2343" y="851599"/>
            <a:ext cx="11819929" cy="539375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</a:t>
            </a:r>
            <a:r>
              <a:rPr lang="en-US" sz="2400" b="1" u="sng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en-US" sz="2400" u="sng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9194" y="712706"/>
            <a:ext cx="11523726" cy="5944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45195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6657" y="1057765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84A7B44-8B20-5A39-ED43-DA98D0FC7976}"/>
              </a:ext>
            </a:extLst>
          </p:cNvPr>
          <p:cNvSpPr txBox="1"/>
          <p:nvPr/>
        </p:nvSpPr>
        <p:spPr>
          <a:xfrm>
            <a:off x="475488" y="0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</a:t>
            </a:r>
            <a:r>
              <a:rPr lang="en-US" sz="3200" b="1" dirty="0" err="1"/>
              <a:t>Agentic</a:t>
            </a:r>
            <a:r>
              <a:rPr lang="en-US" sz="3200" b="1" dirty="0"/>
              <a:t>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22462E8-EB3A-DA7D-44CB-4E757803A755}"/>
              </a:ext>
            </a:extLst>
          </p:cNvPr>
          <p:cNvSpPr txBox="1"/>
          <p:nvPr/>
        </p:nvSpPr>
        <p:spPr>
          <a:xfrm>
            <a:off x="530352" y="536557"/>
            <a:ext cx="768096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/>
              <a:t>Role of </a:t>
            </a:r>
            <a:r>
              <a:rPr lang="en-US" b="1" dirty="0" err="1" smtClean="0"/>
              <a:t>Agentic</a:t>
            </a:r>
            <a:r>
              <a:rPr lang="en-US" b="1" dirty="0" smtClean="0"/>
              <a:t> AI in Course Content Simplification Agent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err="1" smtClean="0"/>
              <a:t>Agentic</a:t>
            </a:r>
            <a:r>
              <a:rPr lang="en-US" dirty="0" smtClean="0"/>
              <a:t> AI enables the system to function as an </a:t>
            </a:r>
            <a:r>
              <a:rPr lang="en-US" b="1" dirty="0" smtClean="0"/>
              <a:t>intelligent and goal-oriented learning assistant</a:t>
            </a:r>
            <a:r>
              <a:rPr lang="en-US" dirty="0" smtClean="0"/>
              <a:t> rather than a simple text-generation tool. Using </a:t>
            </a:r>
            <a:r>
              <a:rPr lang="en-US" b="1" dirty="0" smtClean="0"/>
              <a:t>IBM watsonx.ai and IBM Granite</a:t>
            </a:r>
            <a:r>
              <a:rPr lang="en-US" dirty="0" smtClean="0"/>
              <a:t>, the agent analyzes the learner's selected proficiency level and adapts the academic content accordingly.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 agent performs the following tasks: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 dirty="0" smtClean="0"/>
              <a:t>Content Analysis</a:t>
            </a:r>
            <a:r>
              <a:rPr lang="en-US" dirty="0" smtClean="0"/>
              <a:t> – Analyzes the complexity and concepts present in the provided academic content.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 dirty="0" smtClean="0"/>
              <a:t>Learner Adaptation</a:t>
            </a:r>
            <a:r>
              <a:rPr lang="en-US" dirty="0" smtClean="0"/>
              <a:t> – Adjusts the explanation according to the selected </a:t>
            </a:r>
            <a:r>
              <a:rPr lang="en-US" b="1" dirty="0" smtClean="0"/>
              <a:t>Beginner, Intermediate, or Advanced</a:t>
            </a:r>
            <a:r>
              <a:rPr lang="en-US" dirty="0" smtClean="0"/>
              <a:t> level.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 dirty="0" smtClean="0"/>
              <a:t>Simplification &amp; Reframing</a:t>
            </a:r>
            <a:r>
              <a:rPr lang="en-US" dirty="0" smtClean="0"/>
              <a:t> – Generates an appropriate explanation using language and technical depth suitable for the learner.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 dirty="0" smtClean="0"/>
              <a:t>Key Point Extraction</a:t>
            </a:r>
            <a:r>
              <a:rPr lang="en-US" dirty="0" smtClean="0"/>
              <a:t> – Identifies important concepts for quick learning and revision.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 dirty="0" smtClean="0"/>
              <a:t>Example Generation</a:t>
            </a:r>
            <a:r>
              <a:rPr lang="en-US" dirty="0" smtClean="0"/>
              <a:t> – Provides a short practical example to improve conceptual understanding. </a:t>
            </a:r>
          </a:p>
          <a:p>
            <a:pPr>
              <a:lnSpc>
                <a:spcPct val="150000"/>
              </a:lnSpc>
            </a:pPr>
            <a:r>
              <a:rPr lang="en-US" dirty="0" err="1" smtClean="0"/>
              <a:t>Agentic</a:t>
            </a:r>
            <a:r>
              <a:rPr lang="en-US" dirty="0" smtClean="0"/>
              <a:t> AI also enables the system to be </a:t>
            </a:r>
            <a:r>
              <a:rPr lang="en-US" b="1" dirty="0" smtClean="0"/>
              <a:t>context-aware</a:t>
            </a:r>
            <a:r>
              <a:rPr lang="en-US" dirty="0" smtClean="0"/>
              <a:t>, as the generated response changes according to the learner's selected proficiency level while working toward the goal of making the content easier to </a:t>
            </a:r>
            <a:r>
              <a:rPr lang="en-US" dirty="0" smtClean="0"/>
              <a:t>understand.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00696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u="sng" dirty="0">
                <a:sym typeface="Times New Roman"/>
              </a:rPr>
              <a:t>Token Usage </a:t>
            </a:r>
            <a:endParaRPr sz="2400" b="1" u="sng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BD576A0-BF64-32B6-1E59-49AA2C59C5CE}"/>
              </a:ext>
            </a:extLst>
          </p:cNvPr>
          <p:cNvSpPr txBox="1"/>
          <p:nvPr/>
        </p:nvSpPr>
        <p:spPr>
          <a:xfrm>
            <a:off x="851672" y="877541"/>
            <a:ext cx="437117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smtClean="0"/>
              <a:t>IBM watsonx.ai Project Resource Usage</a:t>
            </a:r>
            <a:br>
              <a:rPr lang="en-US" dirty="0" smtClean="0"/>
            </a:br>
            <a:r>
              <a:rPr lang="en-US" dirty="0" smtClean="0"/>
              <a:t>Total Tokens Recorded: 2,521</a:t>
            </a:r>
            <a:br>
              <a:rPr lang="en-US" dirty="0" smtClean="0"/>
            </a:br>
            <a:r>
              <a:rPr lang="en-US" dirty="0" smtClean="0"/>
              <a:t>Usage Category: Prompt Lab</a:t>
            </a:r>
          </a:p>
        </p:txBody>
      </p:sp>
      <p:pic>
        <p:nvPicPr>
          <p:cNvPr id="8194" name="Picture 2" descr="C:\Users\VISHWAS\Desktop\New folder\prj_token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1677842"/>
            <a:ext cx="7251192" cy="5061286"/>
          </a:xfrm>
          <a:prstGeom prst="rect">
            <a:avLst/>
          </a:prstGeom>
          <a:noFill/>
        </p:spPr>
      </p:pic>
      <p:pic>
        <p:nvPicPr>
          <p:cNvPr id="8195" name="Picture 3" descr="C:\Users\VISHWAS\Desktop\New folder\prj_token_2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96150" y="0"/>
            <a:ext cx="489585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893417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u="sng" dirty="0">
                <a:sym typeface="Times New Roman"/>
              </a:rPr>
              <a:t> Project Output Screenshot</a:t>
            </a:r>
            <a:endParaRPr sz="2400" b="1" u="sng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18" name="Picture 2" descr="C:\Users\VISHWAS\Desktop\New folder\prj_UI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1599" y="788353"/>
            <a:ext cx="12090401" cy="53530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429961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u="sng" dirty="0">
                <a:sym typeface="Times New Roman"/>
              </a:rPr>
              <a:t> Project Output </a:t>
            </a:r>
            <a:r>
              <a:rPr lang="en-US" sz="2400" b="1" u="sng" dirty="0" smtClean="0">
                <a:sym typeface="Times New Roman"/>
              </a:rPr>
              <a:t>Screenshot- Beginner </a:t>
            </a:r>
            <a:endParaRPr sz="2400" b="1" u="sng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42" name="Picture 2" descr="C:\Users\VISHWAS\Desktop\New folder\prj_beginner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250" y="850900"/>
            <a:ext cx="12096750" cy="60071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585092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u="sng" dirty="0">
                <a:sym typeface="Times New Roman"/>
              </a:rPr>
              <a:t> Project Output </a:t>
            </a:r>
            <a:r>
              <a:rPr lang="en-US" sz="2400" b="1" u="sng" dirty="0" smtClean="0">
                <a:sym typeface="Times New Roman"/>
              </a:rPr>
              <a:t>Screenshot- Intermediate</a:t>
            </a:r>
            <a:endParaRPr sz="2400" b="1" u="sng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66" name="Picture 2" descr="C:\Users\VISHWAS\Desktop\New folder\prj_intermediat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01700"/>
            <a:ext cx="12192000" cy="59563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601907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u="sng" dirty="0">
                <a:sym typeface="Times New Roman"/>
              </a:rPr>
              <a:t> Project Output </a:t>
            </a:r>
            <a:r>
              <a:rPr lang="en-US" sz="2400" b="1" u="sng" dirty="0" smtClean="0">
                <a:sym typeface="Times New Roman"/>
              </a:rPr>
              <a:t>Screenshot- Advanced</a:t>
            </a:r>
            <a:endParaRPr sz="2400" b="1" u="sng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90" name="Picture 2" descr="C:\Users\VISHWAS\Desktop\New folder\prj_advanc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52500"/>
            <a:ext cx="12141200" cy="5905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601907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Novelty and Uniqueness</a:t>
            </a:r>
            <a:endParaRPr lang="en-IN" sz="24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/>
              <a:t>Adaptive Learning:</a:t>
            </a:r>
            <a:r>
              <a:rPr lang="en-US" sz="1800" dirty="0" smtClean="0"/>
              <a:t> Adjusts explanations for Beginner, Intermediate, and Advanced learners. </a:t>
            </a:r>
            <a:endParaRPr lang="en-US" sz="1800" dirty="0" smtClean="0"/>
          </a:p>
          <a:p>
            <a:pPr>
              <a:lnSpc>
                <a:spcPct val="150000"/>
              </a:lnSpc>
            </a:pPr>
            <a:r>
              <a:rPr lang="en-US" sz="1800" b="1" dirty="0" smtClean="0"/>
              <a:t>Structured </a:t>
            </a:r>
            <a:r>
              <a:rPr lang="en-US" sz="1800" b="1" dirty="0" smtClean="0"/>
              <a:t>Output:</a:t>
            </a:r>
            <a:r>
              <a:rPr lang="en-US" sz="1800" dirty="0" smtClean="0"/>
              <a:t> Provides explanation, key points, and a practical example. </a:t>
            </a:r>
            <a:endParaRPr lang="en-US" sz="1800" dirty="0" smtClean="0"/>
          </a:p>
          <a:p>
            <a:pPr>
              <a:lnSpc>
                <a:spcPct val="150000"/>
              </a:lnSpc>
            </a:pPr>
            <a:r>
              <a:rPr lang="en-US" sz="1800" b="1" dirty="0" smtClean="0"/>
              <a:t>Personalized </a:t>
            </a:r>
            <a:r>
              <a:rPr lang="en-US" sz="1800" b="1" dirty="0" smtClean="0"/>
              <a:t>Understanding:</a:t>
            </a:r>
            <a:r>
              <a:rPr lang="en-US" sz="1800" dirty="0" smtClean="0"/>
              <a:t> Same course content is reframed according to the learner’s proficiency. </a:t>
            </a:r>
            <a:r>
              <a:rPr lang="en-US" sz="1800" b="1" dirty="0" smtClean="0"/>
              <a:t>Simple &amp; Scalable:</a:t>
            </a:r>
            <a:r>
              <a:rPr lang="en-US" sz="1800" dirty="0" smtClean="0"/>
              <a:t> Lightweight web-based solution using IBM Granite and watsonx.ai.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25282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u="sng" dirty="0" err="1">
                <a:sym typeface="Times New Roman"/>
              </a:rPr>
              <a:t>Git</a:t>
            </a:r>
            <a:r>
              <a:rPr lang="en-US" sz="2400" b="1" u="sng" dirty="0">
                <a:sym typeface="Times New Roman"/>
              </a:rPr>
              <a:t> Hub Link</a:t>
            </a:r>
            <a:endParaRPr sz="2400" b="1" u="sng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https://github.com/vishwas931/Course-content-simplification-agent-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0412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u="sng" dirty="0">
                <a:sym typeface="Times New Roman"/>
              </a:rPr>
              <a:t>Future Scope </a:t>
            </a:r>
            <a:endParaRPr sz="2400" b="1" u="sng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/>
              <a:t>1. Multilingual Support</a:t>
            </a:r>
            <a:r>
              <a:rPr lang="en-US" sz="2000" dirty="0" smtClean="0"/>
              <a:t> – Add support for multiple languages so learners can understand academic content in their preferred language.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/>
              <a:t>2. Voice-Based Learning</a:t>
            </a:r>
            <a:r>
              <a:rPr lang="en-US" sz="2000" dirty="0" smtClean="0"/>
              <a:t> – Enable voice input and audio explanations for more interactive and accessible learning.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/>
              <a:t>3. More Learner Levels</a:t>
            </a:r>
            <a:r>
              <a:rPr lang="en-US" sz="2000" dirty="0" smtClean="0"/>
              <a:t> – Introduce additional proficiency levels and personalized learning modes based on individual needs.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/>
              <a:t>4. Broader Educational Content</a:t>
            </a:r>
            <a:r>
              <a:rPr lang="en-US" sz="2000" dirty="0" smtClean="0"/>
              <a:t> – Extend the agent to support PDFs, lecture notes, textbooks, and other academic materials.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/>
              <a:t>5. Personalized Learning Recommendations</a:t>
            </a:r>
            <a:r>
              <a:rPr lang="en-US" sz="2000" dirty="0" smtClean="0"/>
              <a:t> – Future versions could suggest related topics, examples, and revision content based on the learner’s needs.</a:t>
            </a:r>
            <a:endParaRPr lang="en-US" sz="2000" dirty="0"/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0028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 dirty="0"/>
              <a:t>Certificates Earned:</a:t>
            </a:r>
          </a:p>
          <a:p>
            <a:pPr algn="ctr"/>
            <a:endParaRPr lang="en-US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 smtClean="0"/>
              <a:t>credly</a:t>
            </a:r>
            <a:r>
              <a:rPr lang="en-US" sz="2400" b="1" dirty="0" smtClean="0"/>
              <a:t> </a:t>
            </a:r>
            <a:r>
              <a:rPr lang="en-US" sz="2400" b="1" dirty="0"/>
              <a:t>certificate(Getting Started with Artificial Intelligence)  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2057" y="1520825"/>
            <a:ext cx="6305550" cy="473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833482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sng" strike="noStrike" baseline="0" dirty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u="sng" dirty="0"/>
          </a:p>
          <a:p>
            <a:pPr algn="ctr"/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0D36B1A-26C2-CD55-1032-4CB5E4EDF305}"/>
              </a:ext>
            </a:extLst>
          </p:cNvPr>
          <p:cNvSpPr txBox="1"/>
          <p:nvPr/>
        </p:nvSpPr>
        <p:spPr>
          <a:xfrm>
            <a:off x="496843" y="690742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smtClean="0"/>
              <a:t>IBM </a:t>
            </a:r>
            <a:r>
              <a:rPr lang="en-US" sz="2000" b="1" dirty="0"/>
              <a:t>BOB Certificate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4699" y="1115568"/>
            <a:ext cx="9322250" cy="574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175177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845</Words>
  <Application>Microsoft Office PowerPoint</Application>
  <PresentationFormat>Custom</PresentationFormat>
  <Paragraphs>122</Paragraphs>
  <Slides>23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IBM University Engagement Project Submission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    Terminal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VISHWAS</cp:lastModifiedBy>
  <cp:revision>11</cp:revision>
  <dcterms:created xsi:type="dcterms:W3CDTF">2025-07-08T05:06:56Z</dcterms:created>
  <dcterms:modified xsi:type="dcterms:W3CDTF">2026-09-11T16:45:06Z</dcterms:modified>
</cp:coreProperties>
</file>